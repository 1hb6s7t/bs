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325880"/>
            <a:ext cx="10607040" cy="1325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基于 MindSpore 的上下文 GAN 图像修复与超分辨率联合处理系统设计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788920"/>
            <a:ext cx="896112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800" b="0">
                <a:solidFill>
                  <a:srgbClr val="06B6D4"/>
                </a:solidFill>
                <a:latin typeface="Microsoft YaHei"/>
              </a:rPr>
              <a:t>CRA 图像修复 × SRGAN 超分辨率 × Tkinter 可视化交互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06440"/>
            <a:ext cx="77724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Microsoft YaHei"/>
              </a:rPr>
              <a:t>苗玉鑫｜智能科学与工程学院｜网络工程｜2026 年本科毕业设计答辩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0" y="5166360"/>
            <a:ext cx="1371600" cy="14630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74352" y="4910328"/>
            <a:ext cx="1371600" cy="14630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21824" y="4654296"/>
            <a:ext cx="1371600" cy="1463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答辩内容安排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73152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39"/>
            <a:ext cx="43434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01  研究背景与问题定义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3434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为什么要把图像修复和超分辨率联合起来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554480"/>
            <a:ext cx="73152" cy="10972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39"/>
            <a:ext cx="43434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02  核心模型与系统设计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57400"/>
            <a:ext cx="43434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CRA 负责补全内容，SRGAN 负责增强细节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154680"/>
            <a:ext cx="73152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43434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03  工程实现与交互界面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3434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模块化、分块融合、GUI 与批处理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154680"/>
            <a:ext cx="4663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154680"/>
            <a:ext cx="73152" cy="10972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291840"/>
            <a:ext cx="43434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04  测试结果与总结展望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657600"/>
            <a:ext cx="43434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质量、速度、可用性与后续优化方向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研究背景：真实图像常常是复合退化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1206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Microsoft YaHei"/>
              </a:rPr>
              <a:t>• 真实场景中图像会同时出现遮挡、破损、模糊、低分辨率等问题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51206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Microsoft YaHei"/>
              </a:rPr>
              <a:t>• 单一图像修复方法关注“补内容”，但无法提升整体清晰度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85416"/>
            <a:ext cx="51206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Microsoft YaHei"/>
              </a:rPr>
              <a:t>• 单一超分辨率方法关注“提分辨率”，但会放大破损区域和伪影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9464"/>
            <a:ext cx="51206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600" b="0">
                <a:solidFill>
                  <a:srgbClr val="334155"/>
                </a:solidFill>
                <a:latin typeface="Microsoft YaHei"/>
              </a:rPr>
              <a:t>• 因此需要一条连续流程：先恢复结构，再增强纹理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840480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840480"/>
            <a:ext cx="73152" cy="1143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40"/>
            <a:ext cx="48006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一句话概括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800600" cy="52120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本课题要解决的不是单张图片变清楚，而是让“有缺损、又不清楚”的图片完成联合复原。</a:t>
            </a:r>
          </a:p>
        </p:txBody>
      </p:sp>
      <p:pic>
        <p:nvPicPr>
          <p:cNvPr id="13" name="Picture 12" descr="demo_input_enh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51610"/>
            <a:ext cx="4297680" cy="32232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研究目标与本文工作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8006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113385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联合处理链路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480560" cy="5120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构建“输入图像 + 掩码 → CRA 修复 → SRGAN 增强 → 结果保存”的完整流程。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17320"/>
            <a:ext cx="48006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417320"/>
            <a:ext cx="73152" cy="1133856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统一工程封装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4480560" cy="5120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将配置、图像读写、模型加载、推理、GUI 与批量处理拆成清晰模块。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48006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990088"/>
            <a:ext cx="73152" cy="113385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27248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可展示可运行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493008"/>
            <a:ext cx="4480560" cy="5120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提供命令行、GUI、测试脚本和可视化图表，便于论文展示和答辩演示。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990088"/>
            <a:ext cx="48006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990088"/>
            <a:ext cx="73152" cy="11338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127248"/>
            <a:ext cx="448056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稳定性优化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493008"/>
            <a:ext cx="4480560" cy="51206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加入输入校验、异常回退、日志提示、分块推理与重叠融合。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总体架构：模型层、流程层、应用层分离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项目总体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22" y="1234440"/>
            <a:ext cx="5207555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417320"/>
            <a:ext cx="4480560" cy="36576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模型层：CRA 图像修复模型、SRGAN 超分辨率生成器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83080"/>
            <a:ext cx="4480560" cy="36576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流程层：CombinedProcessor 统一调度修复与增强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48840"/>
            <a:ext cx="4480560" cy="36576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应用层：CLI、GUI、批处理脚本共享同一核心流程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514600"/>
            <a:ext cx="4480560" cy="365760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支撑层：配置管理、日志、检查点发现、图表生成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核心处理流程：先修复，后增强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组合架构总览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846321"/>
            <a:ext cx="5029200" cy="28910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55080" y="1508760"/>
            <a:ext cx="48920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508760"/>
            <a:ext cx="73152" cy="14173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45919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为什么不直接超分？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4572000" cy="7955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如果直接放大破损图像，缺损区域和边缘伪影也会被一起放大；先用 CRA 让内容结构完整，再用 SRGAN 补充高频细节，最终视觉效果更自然。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337560"/>
            <a:ext cx="4892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3337560"/>
            <a:ext cx="73152" cy="11887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47472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统一输出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840480"/>
            <a:ext cx="457200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系统保存两类结果：*_repaired.png 作为修复中间结果，*_enhanced.png 作为最终增强结果，方便对比和回溯。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CRA INPAINTING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CRA 图像修复：利用上下文补全缺损区域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A模型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418" y="1234440"/>
            <a:ext cx="2904002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17320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输入：原始图像与二值掩码，白色区域表示需要修复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01368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粗修复阶段先恢复整体结构，避免结果语义断裂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85416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上下文注意力从未破损区域寻找可参考的纹理和结构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9464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残差聚合把高频细节迁移回缺损区域，提升连贯性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SRGAN SUPER-RESOLUTION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SRGAN 超分辨率：提升分辨率与视觉细节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GAN模型架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899" y="1234440"/>
            <a:ext cx="3445321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17320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生成器由卷积层、残差块和子像素上采样模块组成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01368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残差学习保留主体结构，降低深层网络训练难度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85416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子像素卷积负责把低分辨率特征重建为高分辨率图像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9464"/>
            <a:ext cx="4663440" cy="384048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500" b="0">
                <a:solidFill>
                  <a:srgbClr val="334155"/>
                </a:solidFill>
                <a:latin typeface="Microsoft YaHei"/>
              </a:rPr>
              <a:t>• 对抗训练更关注感知质量，适合恢复纹理细节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工程重点：大图分块推理与重叠融合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A和SRGAN联合推理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5914"/>
            <a:ext cx="5486399" cy="32976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5544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Microsoft YaHei"/>
              </a:rPr>
              <a:t>14.2GB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751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整体处理显存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5544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Microsoft YaHei"/>
              </a:rPr>
              <a:t>5.3GB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751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分块处理显存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15544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icrosoft YaHei"/>
              </a:rPr>
              <a:t>≈63%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9751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显存占用下降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88920"/>
            <a:ext cx="4663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788920"/>
            <a:ext cx="73152" cy="15544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926079"/>
            <a:ext cx="43434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重叠融合策略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91839"/>
            <a:ext cx="4343400" cy="93268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按块裁剪 → 单块增强 → 构建权重图 → 重叠区域渐变加权 → 归一化输出。这样可以降低显存压力，同时减轻块边界拼接痕迹。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系统实现：模块化代码组织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61872"/>
            <a:ext cx="489204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61872"/>
            <a:ext cx="73152" cy="85953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1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ModelConfig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572000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统一维护后端、设备、倍率、检查点与 .env/JSON 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261872"/>
            <a:ext cx="489204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79" y="1261872"/>
            <a:ext cx="73152" cy="859536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399031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ImageProcessor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764792"/>
            <a:ext cx="4572000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图像读取、掩码二值化、尺寸匹配、结果保存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496312"/>
            <a:ext cx="489204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496312"/>
            <a:ext cx="73152" cy="85953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633472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CRAModel / SRGANModel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99232"/>
            <a:ext cx="4572000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封装深度模型加载、推理和后处理逻辑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496312"/>
            <a:ext cx="489204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2496312"/>
            <a:ext cx="73152" cy="85953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633472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Classic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999232"/>
            <a:ext cx="4572000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无 MindSpore 时使用 OpenCV 修复与插值增强保证可运行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30752"/>
            <a:ext cx="489204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730752"/>
            <a:ext cx="73152" cy="85953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867912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CombinedProcessor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233672"/>
            <a:ext cx="4572000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统一调度修复、增强、异常回退与输出命名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79" y="3730752"/>
            <a:ext cx="489204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79" y="3730752"/>
            <a:ext cx="73152" cy="859536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867912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ImageRepairGUI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233672"/>
            <a:ext cx="4572000" cy="237743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文件选择、参数设置、日志反馈、结果预览与演示输入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GUI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可视化交互界面：降低使用门槛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ui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08404"/>
            <a:ext cx="5577840" cy="3532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417320"/>
            <a:ext cx="4480560" cy="347472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450" b="0">
                <a:solidFill>
                  <a:srgbClr val="334155"/>
                </a:solidFill>
                <a:latin typeface="Microsoft YaHei"/>
              </a:rPr>
              <a:t>• 文件选择：输入图像、掩码、输出目录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1764792"/>
            <a:ext cx="4480560" cy="347472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450" b="0">
                <a:solidFill>
                  <a:srgbClr val="334155"/>
                </a:solidFill>
                <a:latin typeface="Microsoft YaHei"/>
              </a:rPr>
              <a:t>• 模型配置：自动检测检查点，也支持 classic 后端直接演示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112264"/>
            <a:ext cx="4480560" cy="347472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450" b="0">
                <a:solidFill>
                  <a:srgbClr val="334155"/>
                </a:solidFill>
                <a:latin typeface="Microsoft YaHei"/>
              </a:rPr>
              <a:t>• 参数设置：后端、设备、超分倍数、输入尺寸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459736"/>
            <a:ext cx="4480560" cy="347472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450" b="0">
                <a:solidFill>
                  <a:srgbClr val="334155"/>
                </a:solidFill>
                <a:latin typeface="Microsoft YaHei"/>
              </a:rPr>
              <a:t>• 实时反馈：运行日志、进度条、结果预览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07208"/>
            <a:ext cx="4480560" cy="347472"/>
          </a:xfrm>
          <a:prstGeom prst="rect">
            <a:avLst/>
          </a:prstGeom>
          <a:noFill/>
        </p:spPr>
        <p:txBody>
          <a:bodyPr wrap="none" lIns="18288">
            <a:spAutoFit/>
          </a:bodyPr>
          <a:lstStyle/>
          <a:p>
            <a:r>
              <a:rPr sz="1450" b="0">
                <a:solidFill>
                  <a:srgbClr val="334155"/>
                </a:solidFill>
                <a:latin typeface="Microsoft YaHei"/>
              </a:rPr>
              <a:t>• 辅助能力：生成演示输入、检查掩码有效性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DEMO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端到端处理效果展示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9900"/>
            <a:ext cx="10881360" cy="2506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97280" y="4709160"/>
            <a:ext cx="9966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4709160"/>
            <a:ext cx="73152" cy="9601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846320"/>
            <a:ext cx="964692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展示逻辑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5212080"/>
            <a:ext cx="9646920" cy="3383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输入图像存在缺损区域，掩码标出待修复位置；系统先输出修复中间图，再输出分辨率增强后的最终结果。答辩时可现场运行 GUI 的“生成演示输入 → 加载模型 → 开始处理”。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测试结果：质量、感知和速度指标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SNR性能对比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31136"/>
            <a:ext cx="3611880" cy="1444752"/>
          </a:xfrm>
          <a:prstGeom prst="rect">
            <a:avLst/>
          </a:prstGeom>
        </p:spPr>
      </p:pic>
      <p:pic>
        <p:nvPicPr>
          <p:cNvPr id="6" name="Picture 5" descr="超分辨率性能对比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231136"/>
            <a:ext cx="3611880" cy="1444752"/>
          </a:xfrm>
          <a:prstGeom prst="rect">
            <a:avLst/>
          </a:prstGeom>
        </p:spPr>
      </p:pic>
      <p:pic>
        <p:nvPicPr>
          <p:cNvPr id="7" name="Picture 6" descr="实时处理性能图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110740"/>
            <a:ext cx="3611880" cy="16855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52120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icrosoft YaHei"/>
              </a:rPr>
              <a:t>29.45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327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BSD100 PSNR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52120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Microsoft YaHei"/>
              </a:rPr>
              <a:t>0.8623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6327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SSIM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2120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Microsoft YaHei"/>
              </a:rPr>
              <a:t>3.92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6327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FID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2120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06B6D4"/>
                </a:solidFill>
                <a:latin typeface="Microsoft YaHei"/>
              </a:rPr>
              <a:t>0.75s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56327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8K 平均处理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5212080"/>
            <a:ext cx="173736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16A34A"/>
                </a:solidFill>
                <a:latin typeface="Microsoft YaHei"/>
              </a:rPr>
              <a:t>5.3GB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5632704"/>
            <a:ext cx="173736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Microsoft YaHei"/>
              </a:rPr>
              <a:t>8K 分块显存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系统测试与稳定性验证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892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10972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功能测试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覆盖输入读取、掩码预处理、模型加载、图像修复、超分增强、结果保存和图表生成。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43200"/>
            <a:ext cx="4892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73152" cy="10972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异常处理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45720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模型路径错误、掩码缺失、图像格式不支持、增强阶段异常时，系统通过日志和弹窗给出提示。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4892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109728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5448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交互验证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45720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GUI 使用线程化处理，模型加载和图像处理期间界面保持响应，并实时更新状态。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743200"/>
            <a:ext cx="48920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743200"/>
            <a:ext cx="73152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45720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批量场景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46120"/>
            <a:ext cx="4572000" cy="475487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批处理脚本支持目录遍历、掩码匹配、失败样本统计和平均耗时输出。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224528"/>
            <a:ext cx="6583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4224528"/>
            <a:ext cx="73152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4361688"/>
            <a:ext cx="62636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本地可运行性补强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727448"/>
            <a:ext cx="6263640" cy="3383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在当前 Python 3.13 环境 MindSpore 不可安装时，增加 classic fallback，确保答辩演示可跑通。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50292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Microsoft Ya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7498079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创新点、不足与后续工作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91440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4983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73152" cy="1463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6634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主要创新与完成度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663440" cy="8412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将 CRA 与 SRGAN 串联为完整工程链路；加入分块融合、自动检查点发现、GUI、批处理和掩码分析，形成可运行、可展示、可维护的系统。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4983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73152" cy="14630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当前不足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63440" cy="8412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串联式流程仍存在误差传递；复杂纹理和极端退化样本泛化验证不足；真实大规模测试集仍需扩充。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46120"/>
            <a:ext cx="10469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79"/>
            <a:ext cx="1014984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</a:rPr>
              <a:t>后续方向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39"/>
            <a:ext cx="10149840" cy="6126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Microsoft YaHei"/>
              </a:rPr>
              <a:t>探索更紧密的联合建模，引入轻量化注意力或扩散先验；增强 GUI 任务管理能力；扩展老照片、监控图像等真实应用数据集。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36576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</a:rPr>
              <a:t>CRA-SRGAN 联合图像复原系统答辩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42416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谢谢各位老师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88920"/>
            <a:ext cx="10424160" cy="4114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06B6D4"/>
                </a:solidFill>
                <a:latin typeface="Microsoft YaHei"/>
              </a:rPr>
              <a:t>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10424160" cy="5943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F8FAFC"/>
                </a:solidFill>
                <a:latin typeface="Microsoft YaHe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